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6576" cy="5760720"/>
          </a:xfrm>
          <a:prstGeom prst="rect">
            <a:avLst/>
          </a:prstGeom>
          <a:solidFill>
            <a:srgbClr val="EEE7E1"/>
          </a:solidFill>
          <a:ln w="12700">
            <a:solidFill>
              <a:srgbClr val="EEE7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EEE7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B5B8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PEPTIDES  ·  ESTD.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 PHYSICIAN  SERVICES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EEE7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Mino MD.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dirty="0">
                <a:solidFill>
                  <a:srgbClr val="EEE7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Physician partners for the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i="1" dirty="0">
                <a:solidFill>
                  <a:srgbClr val="D9C8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peptide practice.</a:t>
            </a:r>
            <a:endParaRPr lang="en-US" sz="3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6400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57150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Program  ·  Medical Director Program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6080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pitch for B2B partners — medical spas, longevity clinics, and medical practices.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E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8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Peptides are now </a:t>
            </a:r>
            <a:pPr indent="0" marL="0">
              <a:lnSpc>
                <a:spcPct val="110000"/>
              </a:lnSpc>
              <a:buNone/>
            </a:pPr>
            <a:r>
              <a:rPr lang="en-US" sz="3400" i="1" dirty="0">
                <a:solidFill>
                  <a:srgbClr val="4A5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fastest-growing category</a:t>
            </a:r>
            <a:pPr indent="0" marL="0">
              <a:lnSpc>
                <a:spcPct val="110000"/>
              </a:lnSpc>
              <a:buNone/>
            </a:pPr>
            <a:r>
              <a:rPr lang="en-US" sz="3400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aesthetic and longevity medicine.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outpacing the clinical infrastructure. Medspas and aesthetic practices want to dispense them. Most can't — legally or safely — without the right physician oversight in place.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35204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D6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291840"/>
            <a:ext cx="73152" cy="3108960"/>
          </a:xfrm>
          <a:prstGeom prst="rect">
            <a:avLst/>
          </a:prstGeom>
          <a:solidFill>
            <a:srgbClr val="A85A3E"/>
          </a:solidFill>
          <a:ln w="12700">
            <a:solidFill>
              <a:srgbClr val="A85A3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6576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4297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exposure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51560" y="48463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practice of medicine, telehealth Rx rules, and state pharmacy boards are tightening. A missing medical director is a compliance-ending finding.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3291840"/>
            <a:ext cx="35204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D6C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43400" y="3291840"/>
            <a:ext cx="73152" cy="3108960"/>
          </a:xfrm>
          <a:prstGeom prst="rect">
            <a:avLst/>
          </a:prstGeom>
          <a:solidFill>
            <a:srgbClr val="A85A3E"/>
          </a:solidFill>
          <a:ln w="12700">
            <a:solidFill>
              <a:srgbClr val="A85A3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6576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4297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good-paper workflow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754880" y="48463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Aesthetic practices lack the SOPs, consents, and charting infrastructure peptide therapy requires. Liability sits with whoever signed the script.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46720" y="3291840"/>
            <a:ext cx="35204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D6C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46720" y="3291840"/>
            <a:ext cx="73152" cy="3108960"/>
          </a:xfrm>
          <a:prstGeom prst="rect">
            <a:avLst/>
          </a:prstGeom>
          <a:solidFill>
            <a:srgbClr val="A85A3E"/>
          </a:solidFill>
          <a:ln w="12700">
            <a:solidFill>
              <a:srgbClr val="A85A3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65760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8200" y="4297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wrong physician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458200" y="48463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MDs willing to moonlight as a medical director don't know peptides. The ones who do are overbooked, underpriced, or both.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E7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MINO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4630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Physician Services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E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8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Mino MD.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6F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physician layer </a:t>
            </a:r>
            <a:pPr indent="0" marL="0">
              <a:buNone/>
            </a:pPr>
            <a:r>
              <a:rPr lang="en-US" sz="2200" i="1" dirty="0">
                <a:solidFill>
                  <a:srgbClr val="4A5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behind your peptide practice.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486400" cy="3657600"/>
          </a:xfrm>
          <a:prstGeom prst="rect">
            <a:avLst/>
          </a:prstGeom>
          <a:solidFill>
            <a:srgbClr val="4A504A"/>
          </a:solidFill>
          <a:ln w="12700">
            <a:solidFill>
              <a:srgbClr val="4A504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0632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  MD  CONCIERGE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5840" y="4160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EE7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Direct-to-physician.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005840" y="48006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9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white-glove clinical-partner program for individual physicians who prescribe Mino-supplied peptides. Protocol library, licensed pharmacy relationships, charting templates, and compliance coverage — built in.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0" y="2606040"/>
            <a:ext cx="52578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6C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0" y="2606040"/>
            <a:ext cx="73152" cy="3657600"/>
          </a:xfrm>
          <a:prstGeom prst="rect">
            <a:avLst/>
          </a:prstGeom>
          <a:solidFill>
            <a:srgbClr val="6E746A"/>
          </a:solidFill>
          <a:ln w="12700">
            <a:solidFill>
              <a:srgbClr val="6E746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06324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2940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E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  MD  MEDICAL  DIRECTOR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629400" y="4160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Direct-to-practice.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6629400" y="48006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turnkey medical-director solution for medspas, longevity clinics, and aesthetic groups. Mino supplies the physician of record, the oversight structure, and the clinical SOPs so you can dispense peptides — legally, and at scale.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486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E7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MINO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4630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Physician Services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E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8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WHY  MINO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</a:t>
            </a:r>
            <a:pPr indent="0" marL="0">
              <a:buNone/>
            </a:pPr>
            <a:r>
              <a:rPr lang="en-US" sz="3000" i="1" dirty="0">
                <a:solidFill>
                  <a:srgbClr val="A85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</a:t>
            </a:r>
            <a:pPr indent="0" marL="0">
              <a:buNone/>
            </a:pPr>
            <a:r>
              <a:rPr lang="en-US" sz="3000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compounding pharmacy with a consulting arm.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 is a pharmaceutical-grade peptide wholesaler built by operators with 450+ physicians across the largest independent MSO in New Jersey, a $3.5B health-system operating track record, and a medical director who practices internal medicine.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54406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6C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4290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3383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450+ physicians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91640" y="38862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Co-founded 18 Medical MSO — New Jersey's largest independent physician network.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0" y="3063240"/>
            <a:ext cx="54406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6C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342900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3383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$3.5B operating DNA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452360" y="38862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an 80+ facility healthcare platform. We know compliance at scale.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5029200"/>
            <a:ext cx="54406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6CD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39496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5349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 compounds.  6 categories.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691640" y="58521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Regeneration, Metabolic, Longevity, Performance, Cognitive, Vitality — all pharmaceutical-grade.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400800" y="5029200"/>
            <a:ext cx="54406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6CD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539496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52360" y="5349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Board-certified MD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7452360" y="58521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 Dr. Brandon Howard, MD (Internal Medicine) leads all clinical protocols.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486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E7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MINO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4630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Physician Services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E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8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PROGRAM  DETAIL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Mino MD Concierge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individual physician, NP, or PA who writes peptide scripts and wants an infrastructure partner — not another vendor.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 YOU  GET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718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29535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wholesale access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3000" y="32735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pricing on all 39 Mino compounds, shipped through licensed channels.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58184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37398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Practice Guide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43000" y="405993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Monographs for every compound — indications, dosing, stacking, contraindications.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44568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4526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Charting &amp; consent library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143000" y="4846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Peptide-specific intake, informed consent, and follow-up templates, physician-reviewed.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330952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531266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CMO hotline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1143000" y="56327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Brandon Howard and the Mino clinical team on call for protocol questions.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583680" y="2606040"/>
            <a:ext cx="4983480" cy="3611880"/>
          </a:xfrm>
          <a:prstGeom prst="rect">
            <a:avLst/>
          </a:prstGeom>
          <a:solidFill>
            <a:srgbClr val="4A504A"/>
          </a:solidFill>
          <a:ln w="12700">
            <a:solidFill>
              <a:srgbClr val="4A504A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995160" y="29260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IT'S  FOR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6995160" y="324612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EE7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prescriber who already gets it.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6995160" y="4160520"/>
            <a:ext cx="4434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9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longevity MDs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9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Aesthetic / cosmetic physicians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9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Integrative NPs and PAs with an MD collaborator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9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Regenerative and orthopedic specialists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9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 / HRT focused practitioners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486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E7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MINO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4630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Physician Services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PROGRAM  DETAIL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EE7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Mino MD Medical Director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medspa, longevity clinic, or aesthetic group that wants to offer peptides — compliantly, consistently, and without building a medical department.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697480"/>
            <a:ext cx="2697480" cy="73152"/>
          </a:xfrm>
          <a:prstGeom prst="rect">
            <a:avLst/>
          </a:prstGeom>
          <a:solidFill>
            <a:srgbClr val="A85A3E"/>
          </a:solidFill>
          <a:ln w="12700">
            <a:solidFill>
              <a:srgbClr val="A85A3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0632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703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Physician of record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44348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licensed MD serves as your medical director under a formal service agreement, with state-specific coverage.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47288" y="269748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47288" y="2697480"/>
            <a:ext cx="2697480" cy="73152"/>
          </a:xfrm>
          <a:prstGeom prst="rect">
            <a:avLst/>
          </a:prstGeom>
          <a:solidFill>
            <a:srgbClr val="A85A3E"/>
          </a:solidFill>
          <a:ln w="12700">
            <a:solidFill>
              <a:srgbClr val="A85A3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30632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67328" y="3703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architecture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767328" y="44348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CPOM-compliant structures, telehealth-ready workflows, good-faith-exam protocols built to survive audit.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54496" y="269748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54496" y="2697480"/>
            <a:ext cx="2697480" cy="73152"/>
          </a:xfrm>
          <a:prstGeom prst="rect">
            <a:avLst/>
          </a:prstGeom>
          <a:solidFill>
            <a:srgbClr val="A85A3E"/>
          </a:solidFill>
          <a:ln w="12700">
            <a:solidFill>
              <a:srgbClr val="A85A3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306324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74536" y="3703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SOPs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574536" y="44348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Intake, screening, dosing, titration, and adverse-event protocols — written by physicians who practice medicine.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061704" y="269748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061704" y="2697480"/>
            <a:ext cx="2697480" cy="73152"/>
          </a:xfrm>
          <a:prstGeom prst="rect">
            <a:avLst/>
          </a:prstGeom>
          <a:solidFill>
            <a:srgbClr val="A85A3E"/>
          </a:solidFill>
          <a:ln w="12700">
            <a:solidFill>
              <a:srgbClr val="A85A3E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744" y="306324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81744" y="3703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reporting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381744" y="44348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clinical utilization reports. We treat your medical oversight like a KPI, not a checkbox.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EE7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MINO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4630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Physician Services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E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8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ENGAGEMENT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first call to dispensing — 14 days.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productized this. No lawyers billing by the hour. No consultants.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7432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6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3063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A85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383280" y="4389120"/>
            <a:ext cx="73152" cy="0"/>
          </a:xfrm>
          <a:prstGeom prst="line">
            <a:avLst/>
          </a:prstGeom>
          <a:noFill/>
          <a:ln w="19050">
            <a:solidFill>
              <a:srgbClr val="9BA295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96012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E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46177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call with the Mino clinical team. Current state, jurisdiction, product mix.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56432" y="2743200"/>
            <a:ext cx="27432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6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76472" y="3063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A85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199632" y="4389120"/>
            <a:ext cx="73152" cy="0"/>
          </a:xfrm>
          <a:prstGeom prst="line">
            <a:avLst/>
          </a:prstGeom>
          <a:noFill/>
          <a:ln w="19050">
            <a:solidFill>
              <a:srgbClr val="9BA295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776472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E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3–5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76472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76472" y="46177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agreement drafted. Medical director matched to your state and specialty mix.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72784" y="2743200"/>
            <a:ext cx="27432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6C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3063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A85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9015984" y="4389120"/>
            <a:ext cx="73152" cy="0"/>
          </a:xfrm>
          <a:prstGeom prst="line">
            <a:avLst/>
          </a:prstGeom>
          <a:noFill/>
          <a:ln w="19050">
            <a:solidFill>
              <a:srgbClr val="9BA295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592824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E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6–10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92824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Stand-up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92824" y="46177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SOPs, consents, and charting templates loaded. Staff trained on intake and dispensing.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89136" y="2743200"/>
            <a:ext cx="27432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6C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09176" y="3063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A85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409176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E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11–14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409176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Activation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409176" y="46177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wholesale order ships. Medical director on call. Monthly reporting begins.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E7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630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Physician Services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E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8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THE  ECONOMICS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medical director pays for itself.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economics for a mid-tier medspa (single location) adding a peptide program.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3566160" cy="1920240"/>
          </a:xfrm>
          <a:prstGeom prst="rect">
            <a:avLst/>
          </a:prstGeom>
          <a:solidFill>
            <a:srgbClr val="4A504A"/>
          </a:solidFill>
          <a:ln w="12700">
            <a:solidFill>
              <a:srgbClr val="4A5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8803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EEE7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$11K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1005840" y="3886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C8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 MONTHLY  WHOLESALE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0584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E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 medspa, Year 1 run-rate.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2651760"/>
            <a:ext cx="3566160" cy="1920240"/>
          </a:xfrm>
          <a:prstGeom prst="rect">
            <a:avLst/>
          </a:prstGeom>
          <a:solidFill>
            <a:srgbClr val="4A504A"/>
          </a:solidFill>
          <a:ln w="12700">
            <a:solidFill>
              <a:srgbClr val="4A5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8803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EEE7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4754880" y="3886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C8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 DISPENSING  MARGIN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E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pharmaceutical-grade peptide retail.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38160" y="2651760"/>
            <a:ext cx="3566160" cy="1920240"/>
          </a:xfrm>
          <a:prstGeom prst="rect">
            <a:avLst/>
          </a:prstGeom>
          <a:solidFill>
            <a:srgbClr val="4A504A"/>
          </a:solidFill>
          <a:ln w="12700">
            <a:solidFill>
              <a:srgbClr val="4A5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28803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EEE7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~6×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8503920" y="3886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C8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 vs  MD  DIRECTOR  FEE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50392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E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on Mino program vs. monthly director cost.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4892040"/>
            <a:ext cx="109270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6C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892040"/>
            <a:ext cx="73152" cy="1371600"/>
          </a:xfrm>
          <a:prstGeom prst="rect">
            <a:avLst/>
          </a:prstGeom>
          <a:solidFill>
            <a:srgbClr val="A85A3E"/>
          </a:solidFill>
          <a:ln w="12700">
            <a:solidFill>
              <a:srgbClr val="A85A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1206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model: </a:t>
            </a:r>
            <a:pPr indent="0" marL="0">
              <a:buNone/>
            </a:pPr>
            <a:r>
              <a:rPr lang="en-US" sz="12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a part-time MD ($4–8K/mo) + compliance counsel ($500–1,500/mo) + protocol build ($10–25K one-time) + ongoing liability.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55778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 MD Medical Director: </a:t>
            </a:r>
            <a:pPr indent="0" marL="0">
              <a:buNone/>
            </a:pPr>
            <a:r>
              <a:rPr lang="en-US" sz="12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monthly fee. Physician, protocols, compliance, and product — bundled.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E7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630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Physician Services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E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8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THE  DIFFERENCE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is different.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27080" cy="502920"/>
          </a:xfrm>
          <a:prstGeom prst="rect">
            <a:avLst/>
          </a:prstGeom>
          <a:solidFill>
            <a:srgbClr val="4A504A"/>
          </a:solidFill>
          <a:ln w="12700">
            <a:solidFill>
              <a:srgbClr val="4A5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0" y="212140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E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  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183880" y="21214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 VENDOR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10927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974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Physician oversight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2743200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023360" y="269748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monthly agreement with state-matched MD, good-faith exam workflow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83880" y="26974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MD on a Rolodex; no real chart review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35661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supply</a:t>
            </a:r>
            <a:endParaRPr lang="en-US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611880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23360" y="35661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pharmaceutical-grade compounds, licensed logistics, Tier-1 wholesale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183880" y="3566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Gray-market compounders; API provenance unclear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" y="4251960"/>
            <a:ext cx="10927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14400" y="44348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infrastructure</a:t>
            </a:r>
            <a:endParaRPr lang="en-US" sz="13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480560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023360" y="443484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SOPs, consents, charting templates — all physician-reviewed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183880" y="44348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from internet templates; liability on you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914400" y="53035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Leadership</a:t>
            </a:r>
            <a:endParaRPr lang="en-US" sz="13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534924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023360" y="530352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CEO-founder with 450+ physicians + $3.5B operating track record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8183880" y="5303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agency running a medical service line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E7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MINO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4630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Physician Services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E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8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WHO  WE  SERVE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the practices </a:t>
            </a:r>
            <a:pPr indent="0" marL="0">
              <a:buNone/>
            </a:pPr>
            <a:r>
              <a:rPr lang="en-US" sz="3200" i="1" dirty="0">
                <a:solidFill>
                  <a:srgbClr val="4A5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moving first.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3872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6C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860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88036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Medical spas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05840" y="3291840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Single-site and multi-location aesthetics groups adding GLP-1s, GHK-Cu, and recovery protocols.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06824" y="1920240"/>
            <a:ext cx="353872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6C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22860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72584" y="288036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Longevity clinics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672584" y="3291840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longevity and regenerative-medicine platforms needing peptide supply + clinical oversight.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973568" y="1920240"/>
            <a:ext cx="353872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6C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22860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39328" y="288036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Dermatology groups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339328" y="3291840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derm groups layering longevity and wellness services onto existing aesthetic books.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40080" y="4297680"/>
            <a:ext cx="353872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6CD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6634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525780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Concierge primary-care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005840" y="5669280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primary-care, functional-medicine, and HRT practices adding peptide therapeutics.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306824" y="4297680"/>
            <a:ext cx="353872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6CD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466344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72584" y="525780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chains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4672584" y="5669280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medspa and wellness platforms standardizing medical oversight across 50+ locations.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7973568" y="4297680"/>
            <a:ext cx="353872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6CD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328" y="466344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339328" y="525780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MSO-backed networks</a:t>
            </a:r>
            <a:endParaRPr lang="en-US" sz="1700" dirty="0"/>
          </a:p>
        </p:txBody>
      </p:sp>
      <p:sp>
        <p:nvSpPr>
          <p:cNvPr id="27" name="Text 19"/>
          <p:cNvSpPr/>
          <p:nvPr/>
        </p:nvSpPr>
        <p:spPr>
          <a:xfrm>
            <a:off x="8339328" y="5669280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networks and MSOs rolling out peptide therapy across their member practices.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5486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E7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MINO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4630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Physician Services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E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8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LEADERSHIP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team behind the prescription.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44068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6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03120"/>
            <a:ext cx="73152" cy="4114800"/>
          </a:xfrm>
          <a:prstGeom prst="rect">
            <a:avLst/>
          </a:prstGeom>
          <a:solidFill>
            <a:srgbClr val="6E746A"/>
          </a:solidFill>
          <a:ln w="12700">
            <a:solidFill>
              <a:srgbClr val="6E74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4688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 &amp;  CEO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278892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Elizabeth Straus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51560" y="352044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Co-founder, 18 Medical MSO (450+ physicians — largest independent MSO in NJ)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Co-founder, RegenRX Health Institute (precision longevity platform)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EVP, CareOne — 80+ facilities, $3.5B enterprise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military veteran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2103120"/>
            <a:ext cx="53035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6C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2103120"/>
            <a:ext cx="73152" cy="4114800"/>
          </a:xfrm>
          <a:prstGeom prst="rect">
            <a:avLst/>
          </a:prstGeom>
          <a:solidFill>
            <a:srgbClr val="6E746A"/>
          </a:solidFill>
          <a:ln w="12700">
            <a:solidFill>
              <a:srgbClr val="6E74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468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CO-FOUNDER,  CMO  &amp;  MEDICAL  DIRECTOR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2788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Brandon Howard, MD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675120" y="352044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Board-certified Internal Medicine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director of record for Mino MD physician network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Author, Mino Clinical Practice Guide (tirzepatide, tesamorelin, PT-141, GHK-Cu, and more)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clinical practice — not a paper MD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E7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630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Physician Services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5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6576" cy="5760720"/>
          </a:xfrm>
          <a:prstGeom prst="rect">
            <a:avLst/>
          </a:prstGeom>
          <a:solidFill>
            <a:srgbClr val="EEE7E1"/>
          </a:solidFill>
          <a:ln w="12700">
            <a:solidFill>
              <a:srgbClr val="EEE7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E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  MD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 BUILD  A  PEPTIDE  PROGRAM.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972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400" dirty="0">
                <a:solidFill>
                  <a:srgbClr val="EEE7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contract.</a:t>
            </a:r>
            <a:endParaRPr lang="en-US" sz="6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400" i="1" dirty="0">
                <a:solidFill>
                  <a:srgbClr val="D9C8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physician.</a:t>
            </a:r>
            <a:endParaRPr lang="en-US" sz="6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400" dirty="0">
                <a:solidFill>
                  <a:srgbClr val="EEE7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supplier.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822960" y="5394960"/>
            <a:ext cx="10515600" cy="18288"/>
          </a:xfrm>
          <a:prstGeom prst="rect">
            <a:avLst/>
          </a:prstGeom>
          <a:solidFill>
            <a:srgbClr val="EEE7E1"/>
          </a:solidFill>
          <a:ln w="12700">
            <a:solidFill>
              <a:srgbClr val="EEE7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532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IN  TOUCH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EE7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hello@mino.life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03520" y="5532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0" y="5852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E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Cynthia  ·  cynthia@mino.life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E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 ·  sam@mino.life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0" y="5852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9E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  PEPTIDES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Mino MD — B2B Physician Services</dc:title>
  <dc:subject>PptxGenJS Presentation</dc:subject>
  <dc:creator>Mino Peptides</dc:creator>
  <cp:lastModifiedBy>Mino Peptides</cp:lastModifiedBy>
  <cp:revision>1</cp:revision>
  <dcterms:created xsi:type="dcterms:W3CDTF">2026-04-18T16:30:31Z</dcterms:created>
  <dcterms:modified xsi:type="dcterms:W3CDTF">2026-04-18T16:30:31Z</dcterms:modified>
</cp:coreProperties>
</file>